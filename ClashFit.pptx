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73152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600" b="1">
                <a:solidFill>
                  <a:srgbClr val="F5F2EC"/>
                </a:solidFill>
                <a:latin typeface="Verdana"/>
              </a:rPr>
              <a:t>CLASHFIT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200400"/>
            <a:ext cx="76809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F5A2C"/>
                </a:solidFill>
                <a:latin typeface="Verdana"/>
              </a:rPr>
              <a:t>Your body is the controller.</a:t>
            </a:r>
          </a:p>
          <a:p>
            <a:pPr algn="l">
              <a:lnSpc>
                <a:spcPct val="125000"/>
              </a:lnSpc>
            </a:pPr>
            <a:r>
              <a:rPr sz="2600" b="0">
                <a:solidFill>
                  <a:srgbClr val="FF5A2C"/>
                </a:solidFill>
                <a:latin typeface="Verdana"/>
              </a:rPr>
              <a:t>Your camera is the referee.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5488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A8A59F"/>
                </a:solidFill>
                <a:latin typeface="Verdana"/>
              </a:rPr>
              <a:t>A fitness game where a clean rep does more damage than a sloppy one —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A8A59F"/>
                </a:solidFill>
                <a:latin typeface="Verdana"/>
              </a:rPr>
              <a:t>because the phone measured the difference.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943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571"/>
                </a:solidFill>
                <a:latin typeface="Verdana"/>
              </a:rPr>
              <a:t>Team Da Goats  ·  Omkar Kadam · Ujjwal Pardeshi  ·  iQOO Hackathon 2026</a:t>
            </a:r>
          </a:p>
        </p:txBody>
      </p:sp>
      <p:pic>
        <p:nvPicPr>
          <p:cNvPr id="7" name="Picture 6" descr="51-fight-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685800"/>
            <a:ext cx="2465335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5A2C"/>
                </a:solidFill>
                <a:latin typeface="Verdan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5F2EC"/>
                </a:solidFill>
                <a:latin typeface="Verdana"/>
              </a:rPr>
              <a:t>Fitness apps count what you tell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A8A59F"/>
                </a:solidFill>
                <a:latin typeface="Verdana"/>
              </a:rPr>
              <a:t>You type in three sets of ten. The app believes you.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A8A59F"/>
                </a:solidFill>
                <a:latin typeface="Verdana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A8A59F"/>
                </a:solidFill>
                <a:latin typeface="Verdana"/>
              </a:rPr>
              <a:t>It never saw the reps, so it cannot know whether they were deep, controlled, or worth anything at all — and neither can you.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194560"/>
            <a:ext cx="5029200" cy="2286000"/>
          </a:xfrm>
          <a:prstGeom prst="roundRect">
            <a:avLst>
              <a:gd name="adj" fmla="val 6000"/>
            </a:avLst>
          </a:prstGeom>
          <a:solidFill>
            <a:srgbClr val="1B1C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2514600"/>
            <a:ext cx="4297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b="0">
                <a:solidFill>
                  <a:srgbClr val="F5F2EC"/>
                </a:solidFill>
                <a:latin typeface="Verdana"/>
              </a:rPr>
              <a:t>So the number that motivates you</a:t>
            </a:r>
          </a:p>
          <a:p>
            <a:pPr algn="l">
              <a:lnSpc>
                <a:spcPct val="145000"/>
              </a:lnSpc>
            </a:pPr>
            <a:r>
              <a:rPr sz="1900" b="0">
                <a:solidFill>
                  <a:srgbClr val="F5F2EC"/>
                </a:solidFill>
                <a:latin typeface="Verdana"/>
              </a:rPr>
              <a:t>is the one number nobody checked.</a:t>
            </a:r>
          </a:p>
          <a:p>
            <a:pPr algn="l">
              <a:lnSpc>
                <a:spcPct val="145000"/>
              </a:lnSpc>
            </a:pPr>
            <a:r>
              <a:rPr sz="1900" b="0">
                <a:solidFill>
                  <a:srgbClr val="F5F2EC"/>
                </a:solidFill>
                <a:latin typeface="Verdana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900" b="0">
                <a:solidFill>
                  <a:srgbClr val="F5F2EC"/>
                </a:solidFill>
                <a:latin typeface="Verdana"/>
              </a:rPr>
              <a:t>Make the camera the referee and</a:t>
            </a:r>
          </a:p>
          <a:p>
            <a:pPr algn="l">
              <a:lnSpc>
                <a:spcPct val="145000"/>
              </a:lnSpc>
            </a:pPr>
            <a:r>
              <a:rPr sz="1900" b="0">
                <a:solidFill>
                  <a:srgbClr val="F5F2EC"/>
                </a:solidFill>
                <a:latin typeface="Verdana"/>
              </a:rPr>
              <a:t>every number becomes evidence.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5A2C"/>
                </a:solidFill>
                <a:latin typeface="Verdana"/>
              </a:rPr>
              <a:t>ClashFit scores depth, range, tempo and alignment on every single rep, on the phone, and pays you in damage for the good ones.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5A2C"/>
                </a:solidFill>
                <a:latin typeface="Verdana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5F2EC"/>
                </a:solidFill>
                <a:latin typeface="Verdana"/>
              </a:rPr>
              <a:t>A rep is a hit. A sloppy rep is a weak one.</a:t>
            </a:r>
          </a:p>
        </p:txBody>
      </p:sp>
      <p:pic>
        <p:nvPicPr>
          <p:cNvPr id="5" name="Picture 4" descr="51-fight-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1787367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A8A59F"/>
                </a:solidFill>
                <a:latin typeface="Verdana"/>
              </a:rPr>
              <a:t>The fight — boss HP, combo, fatigue</a:t>
            </a:r>
          </a:p>
        </p:txBody>
      </p:sp>
      <p:pic>
        <p:nvPicPr>
          <p:cNvPr id="7" name="Picture 6" descr="36-seeded-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79" y="1783080"/>
            <a:ext cx="1787367" cy="39776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337559" y="58978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A8A59F"/>
                </a:solidFill>
                <a:latin typeface="Verdana"/>
              </a:rPr>
              <a:t>Every rep graded, after the set</a:t>
            </a:r>
          </a:p>
        </p:txBody>
      </p:sp>
      <p:pic>
        <p:nvPicPr>
          <p:cNvPr id="9" name="Picture 8" descr="30-seeded-progr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783080"/>
            <a:ext cx="1787367" cy="39776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0" y="58978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A8A59F"/>
                </a:solidFill>
                <a:latin typeface="Verdana"/>
              </a:rPr>
              <a:t>Form over time, measured</a:t>
            </a:r>
          </a:p>
        </p:txBody>
      </p:sp>
      <p:pic>
        <p:nvPicPr>
          <p:cNvPr id="11" name="Picture 10" descr="2f-reward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19" y="1783080"/>
            <a:ext cx="1787367" cy="397763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915399" y="58978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A8A59F"/>
                </a:solidFill>
                <a:latin typeface="Verdana"/>
              </a:rPr>
              <a:t>Rewards earned by clean reps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5A2C"/>
                </a:solidFill>
                <a:latin typeface="Verdana"/>
              </a:rPr>
              <a:t>HOW IT JUDGES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5F2EC"/>
                </a:solidFill>
                <a:latin typeface="Verdana"/>
              </a:rPr>
              <a:t>The referee: 33 landmarks, every frame.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57400"/>
            <a:ext cx="6309360" cy="822960"/>
          </a:xfrm>
          <a:prstGeom prst="roundRect">
            <a:avLst>
              <a:gd name="adj" fmla="val 6000"/>
            </a:avLst>
          </a:prstGeom>
          <a:solidFill>
            <a:srgbClr val="1B1C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185416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2EC"/>
                </a:solidFill>
                <a:latin typeface="Verdana"/>
              </a:rPr>
              <a:t>MediaPipe PoseLandmarker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51460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8A59F"/>
                </a:solidFill>
                <a:latin typeface="Verdana"/>
              </a:rPr>
              <a:t>33 body points, on-device, at camera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17520"/>
            <a:ext cx="6309360" cy="822960"/>
          </a:xfrm>
          <a:prstGeom prst="roundRect">
            <a:avLst>
              <a:gd name="adj" fmla="val 6000"/>
            </a:avLst>
          </a:prstGeom>
          <a:solidFill>
            <a:srgbClr val="1B1C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145536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2EC"/>
                </a:solidFill>
                <a:latin typeface="Verdana"/>
              </a:rPr>
              <a:t>Four measurements per rep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4747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8A59F"/>
                </a:solidFill>
                <a:latin typeface="Verdana"/>
              </a:rPr>
              <a:t>depth · range of motion · tempo · alignment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77639"/>
            <a:ext cx="6309360" cy="822960"/>
          </a:xfrm>
          <a:prstGeom prst="roundRect">
            <a:avLst>
              <a:gd name="adj" fmla="val 6000"/>
            </a:avLst>
          </a:prstGeom>
          <a:solidFill>
            <a:srgbClr val="1B1C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4105655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2EC"/>
                </a:solidFill>
                <a:latin typeface="Verdana"/>
              </a:rPr>
              <a:t>A fatigue estimate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34839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8A59F"/>
                </a:solidFill>
                <a:latin typeface="Verdana"/>
              </a:rPr>
              <a:t>velocity and range loss against your own baseline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937760"/>
            <a:ext cx="6309360" cy="822960"/>
          </a:xfrm>
          <a:prstGeom prst="roundRect">
            <a:avLst>
              <a:gd name="adj" fmla="val 6000"/>
            </a:avLst>
          </a:prstGeom>
          <a:solidFill>
            <a:srgbClr val="1B1C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5065776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2EC"/>
                </a:solidFill>
                <a:latin typeface="Verdana"/>
              </a:rPr>
              <a:t>Nothing is stored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39496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8A59F"/>
                </a:solidFill>
                <a:latin typeface="Verdana"/>
              </a:rPr>
              <a:t>frames are read, scored and discarded in the same instant</a:t>
            </a:r>
          </a:p>
        </p:txBody>
      </p:sp>
      <p:pic>
        <p:nvPicPr>
          <p:cNvPr id="17" name="Picture 16" descr="a0-workout-mid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914400"/>
            <a:ext cx="2493227" cy="5486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98079" y="64465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A8A59F"/>
                </a:solidFill>
                <a:latin typeface="Verdana"/>
              </a:rPr>
              <a:t>Workout mode — the same referee, coaching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5A2C"/>
                </a:solidFill>
                <a:latin typeface="Verdana"/>
              </a:rPr>
              <a:t>ON-DEVICE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5F2EC"/>
                </a:solidFill>
                <a:latin typeface="Verdana"/>
              </a:rPr>
              <a:t>A coach that only says what it measured.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A8A59F"/>
                </a:solidFill>
                <a:latin typeface="Verdana"/>
              </a:rPr>
              <a:t>Gemma 3n E2B · int4 · 3.1 GB runs inside the app — no network, no account, no request leaves the phone.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A8A59F"/>
                </a:solidFill>
                <a:latin typeface="Verdana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A8A59F"/>
                </a:solidFill>
                <a:latin typeface="Verdana"/>
              </a:rPr>
              <a:t>It is handed a fact sheet built from your own measurements and told it may use nothing else. Ask it something the numbers do not cover and it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49039"/>
            <a:ext cx="1920240" cy="1143000"/>
          </a:xfrm>
          <a:prstGeom prst="roundRect">
            <a:avLst>
              <a:gd name="adj" fmla="val 6000"/>
            </a:avLst>
          </a:prstGeom>
          <a:solidFill>
            <a:srgbClr val="1B1C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3192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ED28A"/>
                </a:solidFill>
                <a:latin typeface="Verdana"/>
              </a:rPr>
              <a:t>On this 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9768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8A59F"/>
                </a:solidFill>
                <a:latin typeface="Verdana"/>
              </a:rPr>
              <a:t>Gemma 3n, offline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79" y="3749039"/>
            <a:ext cx="1920240" cy="1143000"/>
          </a:xfrm>
          <a:prstGeom prst="roundRect">
            <a:avLst>
              <a:gd name="adj" fmla="val 6000"/>
            </a:avLst>
          </a:prstGeom>
          <a:solidFill>
            <a:srgbClr val="1B1C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59" y="393192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5A2C"/>
                </a:solidFill>
                <a:latin typeface="Verdana"/>
              </a:rPr>
              <a:t>Cloud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59" y="429768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8A59F"/>
                </a:solidFill>
                <a:latin typeface="Verdana"/>
              </a:rPr>
              <a:t>only if you opt 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3749039"/>
            <a:ext cx="1920240" cy="1143000"/>
          </a:xfrm>
          <a:prstGeom prst="roundRect">
            <a:avLst>
              <a:gd name="adj" fmla="val 6000"/>
            </a:avLst>
          </a:prstGeom>
          <a:solidFill>
            <a:srgbClr val="1B1C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393192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8A59F"/>
                </a:solidFill>
                <a:latin typeface="Verdana"/>
              </a:rPr>
              <a:t>Built-in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429768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8A59F"/>
                </a:solidFill>
                <a:latin typeface="Verdana"/>
              </a:rPr>
              <a:t>template bank, always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212080"/>
            <a:ext cx="6035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FF5A2C"/>
                </a:solidFill>
                <a:latin typeface="Verdana"/>
              </a:rPr>
              <a:t>The badge on screen always names the voice that answered, because "an AI said it" and "a lookup table said it" are different claims.</a:t>
            </a:r>
          </a:p>
        </p:txBody>
      </p:sp>
      <p:pic>
        <p:nvPicPr>
          <p:cNvPr id="16" name="Picture 15" descr="coach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822960"/>
            <a:ext cx="2535381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5A2C"/>
                </a:solidFill>
                <a:latin typeface="Verdana"/>
              </a:rPr>
              <a:t>BEYOND THE 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5F2EC"/>
                </a:solidFill>
                <a:latin typeface="Verdana"/>
              </a:rPr>
              <a:t>Outdoors, the chase is the workout.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47548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A8A59F"/>
                </a:solidFill>
                <a:latin typeface="Verdana"/>
              </a:rPr>
              <a:t>Zombie Run puts a pack on a real map behind you, and they close when your cadence drops — so stopping is what gets you caught.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A8A59F"/>
                </a:solidFill>
                <a:latin typeface="Verdana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A8A59F"/>
                </a:solidFill>
                <a:latin typeface="Verdana"/>
              </a:rPr>
              <a:t>Runs and walks are tracked through six quality gates, and fall back to your own footsteps indoors, with a stride learned from your outdoor GPS.</a:t>
            </a:r>
          </a:p>
        </p:txBody>
      </p:sp>
      <p:pic>
        <p:nvPicPr>
          <p:cNvPr id="6" name="Picture 5" descr="2e-zombie-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17320"/>
            <a:ext cx="2218801" cy="4937760"/>
          </a:xfrm>
          <a:prstGeom prst="rect">
            <a:avLst/>
          </a:prstGeom>
        </p:spPr>
      </p:pic>
      <p:pic>
        <p:nvPicPr>
          <p:cNvPr id="7" name="Picture 6" descr="28-r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417320"/>
            <a:ext cx="2218801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5A2C"/>
                </a:solidFill>
                <a:latin typeface="Verdana"/>
              </a:rPr>
              <a:t>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5F2EC"/>
                </a:solidFill>
                <a:latin typeface="Verdana"/>
              </a:rPr>
              <a:t>Zombie Run, on a real street.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77440" y="1691640"/>
            <a:ext cx="2468880" cy="4389120"/>
          </a:xfrm>
          <a:prstGeom prst="roundRect">
            <a:avLst>
              <a:gd name="adj" fmla="val 6000"/>
            </a:avLst>
          </a:prstGeom>
          <a:solidFill>
            <a:srgbClr val="242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77440" y="3520440"/>
            <a:ext cx="2468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777571"/>
                </a:solidFill>
                <a:latin typeface="Verdana"/>
              </a:rPr>
              <a:t>▶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777571"/>
                </a:solidFill>
                <a:latin typeface="Verdana"/>
              </a:rPr>
              <a:t>video drops in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619048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A8A59F"/>
                </a:solidFill>
                <a:latin typeface="Verdana"/>
              </a:rPr>
              <a:t>The chase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0" y="1691640"/>
            <a:ext cx="2468880" cy="4389120"/>
          </a:xfrm>
          <a:prstGeom prst="roundRect">
            <a:avLst>
              <a:gd name="adj" fmla="val 6000"/>
            </a:avLst>
          </a:prstGeom>
          <a:solidFill>
            <a:srgbClr val="242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0" y="3520440"/>
            <a:ext cx="2468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777571"/>
                </a:solidFill>
                <a:latin typeface="Verdana"/>
              </a:rPr>
              <a:t>▶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777571"/>
                </a:solidFill>
                <a:latin typeface="Verdana"/>
              </a:rPr>
              <a:t>video drops in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19048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A8A59F"/>
                </a:solidFill>
                <a:latin typeface="Verdana"/>
              </a:rPr>
              <a:t>Caught, and the map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5A2C"/>
                </a:solidFill>
                <a:latin typeface="Verdana"/>
              </a:rPr>
              <a:t>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5F2EC"/>
                </a:solidFill>
                <a:latin typeface="Verdana"/>
              </a:rPr>
              <a:t>A walk, tracked and graded.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1691640"/>
            <a:ext cx="2468880" cy="4389120"/>
          </a:xfrm>
          <a:prstGeom prst="roundRect">
            <a:avLst>
              <a:gd name="adj" fmla="val 6000"/>
            </a:avLst>
          </a:prstGeom>
          <a:solidFill>
            <a:srgbClr val="242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520440"/>
            <a:ext cx="2468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777571"/>
                </a:solidFill>
                <a:latin typeface="Verdana"/>
              </a:rPr>
              <a:t>▶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777571"/>
                </a:solidFill>
                <a:latin typeface="Verdana"/>
              </a:rPr>
              <a:t>video drops in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619048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A8A59F"/>
                </a:solidFill>
                <a:latin typeface="Verdana"/>
              </a:rPr>
              <a:t>Distance, pace, route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2011680"/>
            <a:ext cx="71323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A8A59F"/>
                </a:solidFill>
                <a:latin typeface="Verdana"/>
              </a:rPr>
              <a:t>Six quality gates before a fix may move your distance: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A8A59F"/>
                </a:solidFill>
                <a:latin typeface="Verdana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A8A59F"/>
                </a:solidFill>
                <a:latin typeface="Verdana"/>
              </a:rPr>
              <a:t>accuracy under 25 m   ·   a 10-second settle window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A8A59F"/>
                </a:solidFill>
                <a:latin typeface="Verdana"/>
              </a:rPr>
              <a:t>sane coordinates   ·   monotonic timestamps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A8A59F"/>
                </a:solidFill>
                <a:latin typeface="Verdana"/>
              </a:rPr>
              <a:t>nothing faster than 8 m/s   ·   a 2 m jitter floor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A8A59F"/>
                </a:solidFill>
                <a:latin typeface="Verdana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A8A59F"/>
                </a:solidFill>
                <a:latin typeface="Verdana"/>
              </a:rPr>
              <a:t>A rejected fix never becomes the anchor for the next one — which is what makes the jitter filter safe for a slow walk.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5A2C"/>
                </a:solidFill>
                <a:latin typeface="Verdana"/>
              </a:rPr>
              <a:t>TECHNICAL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5F2EC"/>
                </a:solidFill>
                <a:latin typeface="Verdana"/>
              </a:rPr>
              <a:t>Built to be checked, not just demoed.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F5A2C"/>
                </a:solidFill>
                <a:latin typeface="Verdana"/>
              </a:rPr>
              <a:t>942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2432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A8A59F"/>
                </a:solidFill>
                <a:latin typeface="Verdana"/>
              </a:rPr>
              <a:t>TESTS, ALL 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35808" y="196596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F5A2C"/>
                </a:solidFill>
                <a:latin typeface="Verdana"/>
              </a:rPr>
              <a:t>41,268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35808" y="262432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A8A59F"/>
                </a:solidFill>
                <a:latin typeface="Verdana"/>
              </a:rPr>
              <a:t>LINES OF KOTLIN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8656" y="196596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F5A2C"/>
                </a:solidFill>
                <a:latin typeface="Verdana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48656" y="262432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A8A59F"/>
                </a:solidFill>
                <a:latin typeface="Verdana"/>
              </a:rPr>
              <a:t>SCREENS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1504" y="196596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F5A2C"/>
                </a:solidFill>
                <a:latin typeface="Verdana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61504" y="262432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A8A59F"/>
                </a:solidFill>
                <a:latin typeface="Verdana"/>
              </a:rPr>
              <a:t>GAME MODES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74352" y="196596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F5A2C"/>
                </a:solidFill>
                <a:latin typeface="Verdana"/>
              </a:rPr>
              <a:t>494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74352" y="262432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A8A59F"/>
                </a:solidFill>
                <a:latin typeface="Verdana"/>
              </a:rPr>
              <a:t>COLD 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5A2C"/>
                </a:solidFill>
                <a:latin typeface="Verdana"/>
              </a:rPr>
              <a:t>Kotlin 2.3 · Jetpack Compose · Room · CameraX · MediaPipe Tasks (Vision + GenAI) · Filament 3D · osmdroid · Firebase Auth &amp; Firestore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10515600" cy="749808"/>
          </a:xfrm>
          <a:prstGeom prst="roundRect">
            <a:avLst>
              <a:gd name="adj" fmla="val 6000"/>
            </a:avLst>
          </a:prstGeom>
          <a:solidFill>
            <a:srgbClr val="1B1C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16966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5F2EC"/>
                </a:solidFill>
                <a:latin typeface="Verdana"/>
              </a:rPr>
              <a:t>One engine, many modes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7096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A8A59F"/>
                </a:solidFill>
                <a:latin typeface="Verdana"/>
              </a:rPr>
              <a:t>The same rep counter, depth gate and form score drive a boss fight, a gym log and a clinical sit-to-stand test. Two things that must agree are one thing.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937760"/>
            <a:ext cx="10515600" cy="749808"/>
          </a:xfrm>
          <a:prstGeom prst="roundRect">
            <a:avLst>
              <a:gd name="adj" fmla="val 6000"/>
            </a:avLst>
          </a:prstGeom>
          <a:solidFill>
            <a:srgbClr val="1B1C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0383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5F2EC"/>
                </a:solidFill>
                <a:latin typeface="Verdana"/>
              </a:rPr>
              <a:t>Pure core, testable on the JVM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5065776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A8A59F"/>
                </a:solidFill>
                <a:latin typeface="Verdana"/>
              </a:rPr>
              <a:t>Scoring, fatigue, route maths and reward rules are Android-free, so 942 tests run in seconds without a device.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806440"/>
            <a:ext cx="10515600" cy="749808"/>
          </a:xfrm>
          <a:prstGeom prst="roundRect">
            <a:avLst>
              <a:gd name="adj" fmla="val 6000"/>
            </a:avLst>
          </a:prstGeom>
          <a:solidFill>
            <a:srgbClr val="1B1C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90702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5F2EC"/>
                </a:solidFill>
                <a:latin typeface="Verdana"/>
              </a:rPr>
              <a:t>Rendered screenshot baselines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5934456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A8A59F"/>
                </a:solidFill>
                <a:latin typeface="Verdana"/>
              </a:rPr>
              <a:t>Every screen is drawn at 320 dp, 384 dp, tablet and 1.5x text, so a broken layout is caught before a phone sees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5A2C"/>
                </a:solidFill>
                <a:latin typeface="Verdana"/>
              </a:rPr>
              <a:t>WHAT THE IQOO 15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5F2EC"/>
                </a:solidFill>
                <a:latin typeface="Verdana"/>
              </a:rPr>
              <a:t>Everything that matters happens on the device.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2024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1B1C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066544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5A2C"/>
                </a:solidFill>
                <a:latin typeface="Verdana"/>
              </a:rPr>
              <a:t>Camera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2075688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8A59F"/>
                </a:solidFill>
                <a:latin typeface="Verdana"/>
              </a:rPr>
              <a:t>MediaPipe pose and hand tracking at camera rate — the referee, and gesture control without touching the screen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70048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1B1C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81635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5A2C"/>
                </a:solidFill>
                <a:latin typeface="Verdana"/>
              </a:rPr>
              <a:t>Neural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82549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8A59F"/>
                </a:solidFill>
                <a:latin typeface="Verdana"/>
              </a:rPr>
              <a:t>Gemma 3n E2B int4 generating coaching text offline, in about a second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419856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1B1C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56616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5A2C"/>
                </a:solidFill>
                <a:latin typeface="Verdana"/>
              </a:rPr>
              <a:t>GPU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3575304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8A59F"/>
                </a:solidFill>
                <a:latin typeface="Verdana"/>
              </a:rPr>
              <a:t>Filament renders the 3D boss while the pose pipeline runs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169664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1B1C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31596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5A2C"/>
                </a:solidFill>
                <a:latin typeface="Verdana"/>
              </a:rPr>
              <a:t>Sensors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325112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8A59F"/>
                </a:solidFill>
                <a:latin typeface="Verdana"/>
              </a:rPr>
              <a:t>step counter, compass and GPS fused into one position, indoors and out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919472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1B1C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06577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5A2C"/>
                </a:solidFill>
                <a:latin typeface="Verdana"/>
              </a:rPr>
              <a:t>Voice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507492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8A59F"/>
                </a:solidFill>
                <a:latin typeface="Verdana"/>
              </a:rPr>
              <a:t>offline speech recognition for commands, text-to-speech for the coach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5F2EC"/>
                </a:solidFill>
                <a:latin typeface="Verdana"/>
              </a:rPr>
              <a:t>No frame, no landmark and no route ever leaves the phone. Only a score, a name and a level go to the leaderboard — and the app says so on its own privacy screen.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